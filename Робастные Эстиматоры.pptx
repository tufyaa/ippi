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Garet Bold" panose="020B0604020202020204" charset="-52"/>
      <p:regular r:id="rId28"/>
    </p:embeddedFont>
    <p:embeddedFont>
      <p:font typeface="Inter" panose="020B0604020202020204" charset="0"/>
      <p:regular r:id="rId29"/>
    </p:embeddedFont>
    <p:embeddedFont>
      <p:font typeface="Archivo Black" panose="020B0604020202020204" charset="0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Bebas Neue" panose="020B0604020202020204" charset="-52"/>
      <p:regular r:id="rId35"/>
    </p:embeddedFont>
    <p:embeddedFont>
      <p:font typeface="Inter Bold" panose="020B0604020202020204" charset="0"/>
      <p:regular r:id="rId36"/>
    </p:embeddedFont>
    <p:embeddedFont>
      <p:font typeface="Garet" panose="020B0604020202020204" charset="-5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6285488" cy="10287000"/>
          </a:xfrm>
          <a:custGeom>
            <a:avLst/>
            <a:gdLst/>
            <a:ahLst/>
            <a:cxnLst/>
            <a:rect l="l" t="t" r="r" b="b"/>
            <a:pathLst>
              <a:path w="16285488" h="10287000">
                <a:moveTo>
                  <a:pt x="0" y="0"/>
                </a:moveTo>
                <a:lnTo>
                  <a:pt x="16285488" y="0"/>
                </a:lnTo>
                <a:lnTo>
                  <a:pt x="162854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" b="-3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02450" y="2832100"/>
            <a:ext cx="11139280" cy="300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 spc="3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РОБАСТНЫЕ ЭСТИМАТОРЫ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1906160" y="4992873"/>
            <a:ext cx="590411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AEAEAE"/>
                </a:solidFill>
                <a:latin typeface="Bebas Neue"/>
                <a:ea typeface="Bebas Neue"/>
                <a:cs typeface="Bebas Neue"/>
                <a:sym typeface="Bebas Neue"/>
              </a:rPr>
              <a:t>14.04.2025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13153052" y="4992873"/>
            <a:ext cx="799073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AEAEAE"/>
                </a:solidFill>
                <a:latin typeface="Bebas Neue"/>
                <a:ea typeface="Bebas Neue"/>
                <a:cs typeface="Bebas Neue"/>
                <a:sym typeface="Bebas Neue"/>
              </a:rPr>
              <a:t>Собеседование на кафедру ИППИ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7977" y="8540562"/>
            <a:ext cx="584822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3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ДОКЛАДЧИК: ЦВЕТКОВ ЕГОР</a:t>
            </a:r>
          </a:p>
        </p:txBody>
      </p:sp>
      <p:sp>
        <p:nvSpPr>
          <p:cNvPr id="7" name="AutoShape 7"/>
          <p:cNvSpPr/>
          <p:nvPr/>
        </p:nvSpPr>
        <p:spPr>
          <a:xfrm>
            <a:off x="5725970" y="8150037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3712529" y="6954750"/>
            <a:ext cx="1086294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3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СИНТЕЗИРОВАНИЕ ЗАШУМЛЕННЫХ ДАННЫХ И РОБАСТНАЯ ОЦЕНКА ПАРАМЕТРОВ МОДЕЛИ.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49373" y="-182552"/>
            <a:ext cx="12138627" cy="10287000"/>
          </a:xfrm>
          <a:custGeom>
            <a:avLst/>
            <a:gdLst/>
            <a:ahLst/>
            <a:cxnLst/>
            <a:rect l="l" t="t" r="r" b="b"/>
            <a:pathLst>
              <a:path w="12138627" h="10287000">
                <a:moveTo>
                  <a:pt x="0" y="0"/>
                </a:moveTo>
                <a:lnTo>
                  <a:pt x="12138627" y="0"/>
                </a:lnTo>
                <a:lnTo>
                  <a:pt x="121386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7" b="-887"/>
            </a:stretch>
          </a:blipFill>
        </p:spPr>
      </p:sp>
      <p:sp>
        <p:nvSpPr>
          <p:cNvPr id="3" name="AutoShape 3"/>
          <p:cNvSpPr/>
          <p:nvPr/>
        </p:nvSpPr>
        <p:spPr>
          <a:xfrm rot="-5400000">
            <a:off x="7317956" y="2009010"/>
            <a:ext cx="938074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7786993" y="5686571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7772705" y="7438949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7801280" y="3726809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94531" y="4693666"/>
            <a:ext cx="5438530" cy="84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6"/>
              </a:lnSpc>
            </a:pPr>
            <a:r>
              <a:rPr lang="en-US" sz="5200" spc="55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СОДЕРЖАНИЕ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89491" y="1612225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05349" y="1587777"/>
            <a:ext cx="3513003" cy="9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spc="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Синтез данных с выбросами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4668" y="3669659"/>
            <a:ext cx="351300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spc="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Метрика для линейной модели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34668" y="7391324"/>
            <a:ext cx="3592412" cy="93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 spc="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Оптимизация параметров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77428" y="5693101"/>
            <a:ext cx="4306478" cy="93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 spc="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Робастные </a:t>
            </a:r>
          </a:p>
          <a:p>
            <a:pPr algn="l">
              <a:lnSpc>
                <a:spcPts val="3780"/>
              </a:lnSpc>
            </a:pPr>
            <a:r>
              <a:rPr lang="en-US" sz="2700" b="1" spc="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методы(1)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9491" y="3703404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9491" y="7415544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9491" y="5663166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69566" y="1613177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4083228" y="1607737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4620741" y="1569182"/>
            <a:ext cx="3513003" cy="9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spc="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Анализ результатов(1)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96456" y="3622034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06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14026078" y="3601534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4620741" y="3632195"/>
            <a:ext cx="351300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spc="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Нелинейные модели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93481" y="5807310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20741" y="7289496"/>
            <a:ext cx="3513003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Метрика для нелинейных моделей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4097515" y="5667839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2860053" y="7415544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08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14040365" y="7357579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0548002" y="8765857"/>
            <a:ext cx="7755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5100" spc="6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09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11704065" y="8707893"/>
            <a:ext cx="0" cy="938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14620741" y="5710791"/>
            <a:ext cx="4306478" cy="9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spc="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Робастные </a:t>
            </a:r>
          </a:p>
          <a:p>
            <a:pPr algn="l">
              <a:lnSpc>
                <a:spcPts val="3640"/>
              </a:lnSpc>
            </a:pPr>
            <a:r>
              <a:rPr lang="en-US" sz="2600" b="1" spc="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методы(2)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80303" y="8741410"/>
            <a:ext cx="351300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spc="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Анализ результатов(2)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0" r="-9840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9253404" y="2622897"/>
            <a:ext cx="0" cy="7792248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526964" y="9168783"/>
            <a:ext cx="5780651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26712" y="2872662"/>
            <a:ext cx="8512335" cy="6498305"/>
          </a:xfrm>
          <a:custGeom>
            <a:avLst/>
            <a:gdLst/>
            <a:ahLst/>
            <a:cxnLst/>
            <a:rect l="l" t="t" r="r" b="b"/>
            <a:pathLst>
              <a:path w="8512335" h="6498305">
                <a:moveTo>
                  <a:pt x="0" y="0"/>
                </a:moveTo>
                <a:lnTo>
                  <a:pt x="8512335" y="0"/>
                </a:lnTo>
                <a:lnTo>
                  <a:pt x="8512335" y="6498305"/>
                </a:lnTo>
                <a:lnTo>
                  <a:pt x="0" y="6498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53404" y="6328833"/>
            <a:ext cx="9050450" cy="2154869"/>
          </a:xfrm>
          <a:custGeom>
            <a:avLst/>
            <a:gdLst/>
            <a:ahLst/>
            <a:cxnLst/>
            <a:rect l="l" t="t" r="r" b="b"/>
            <a:pathLst>
              <a:path w="9050450" h="2154869">
                <a:moveTo>
                  <a:pt x="0" y="0"/>
                </a:moveTo>
                <a:lnTo>
                  <a:pt x="9050450" y="0"/>
                </a:lnTo>
                <a:lnTo>
                  <a:pt x="9050450" y="2154869"/>
                </a:lnTo>
                <a:lnTo>
                  <a:pt x="0" y="215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4417" y="515450"/>
            <a:ext cx="14735836" cy="129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999" spc="42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УНИВЕРСАЛЬНЫЙ МЕТОД ГЕНЕРАЦИИ СИНТЕТИЧЕСКИХ ДАННЫХ С ВЫБРОСАМИ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02055" y="4151056"/>
            <a:ext cx="5780651" cy="150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661" spc="122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Генерируется линейная зависимость с Гауссовским шумом: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8475" y="2805987"/>
            <a:ext cx="5647811" cy="58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sz="3404" spc="-40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Линейная модель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0" r="-9840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9253404" y="2622897"/>
            <a:ext cx="0" cy="7792248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866794" y="8893475"/>
            <a:ext cx="5780651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44204" y="3332453"/>
            <a:ext cx="7768131" cy="6408708"/>
          </a:xfrm>
          <a:custGeom>
            <a:avLst/>
            <a:gdLst/>
            <a:ahLst/>
            <a:cxnLst/>
            <a:rect l="l" t="t" r="r" b="b"/>
            <a:pathLst>
              <a:path w="7768131" h="6408708">
                <a:moveTo>
                  <a:pt x="0" y="0"/>
                </a:moveTo>
                <a:lnTo>
                  <a:pt x="7768131" y="0"/>
                </a:lnTo>
                <a:lnTo>
                  <a:pt x="7768131" y="6408708"/>
                </a:lnTo>
                <a:lnTo>
                  <a:pt x="0" y="6408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97265" y="6291793"/>
            <a:ext cx="8950889" cy="2360042"/>
          </a:xfrm>
          <a:custGeom>
            <a:avLst/>
            <a:gdLst/>
            <a:ahLst/>
            <a:cxnLst/>
            <a:rect l="l" t="t" r="r" b="b"/>
            <a:pathLst>
              <a:path w="8950889" h="2360042">
                <a:moveTo>
                  <a:pt x="0" y="0"/>
                </a:moveTo>
                <a:lnTo>
                  <a:pt x="8950890" y="0"/>
                </a:lnTo>
                <a:lnTo>
                  <a:pt x="8950890" y="2360041"/>
                </a:lnTo>
                <a:lnTo>
                  <a:pt x="0" y="236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4417" y="515450"/>
            <a:ext cx="14735836" cy="129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999" spc="4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УНИВЕРСАЛЬНЫЙ МЕТОД ГЕНЕРАЦИИ СИНТЕТИЧЕСКИХ ДАННЫХ С ВЫБРОСАМИ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48531" y="2537172"/>
            <a:ext cx="5211832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000" spc="138">
                <a:solidFill>
                  <a:srgbClr val="FF9300"/>
                </a:solidFill>
                <a:latin typeface="Inter"/>
                <a:ea typeface="Inter"/>
                <a:cs typeface="Inter"/>
                <a:sym typeface="Inter"/>
              </a:rPr>
              <a:t>ЭЛЛИПС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48705" y="2568084"/>
            <a:ext cx="7648010" cy="178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sz="3404" spc="-4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Нелинейные модели данных второго порядка</a:t>
            </a:r>
          </a:p>
          <a:p>
            <a:pPr algn="ctr">
              <a:lnSpc>
                <a:spcPts val="4766"/>
              </a:lnSpc>
            </a:pPr>
            <a:endParaRPr lang="en-US" sz="3404" spc="-4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866794" y="4799830"/>
            <a:ext cx="5211832" cy="964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sz="25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Параметрическое уравнение: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0" r="-9840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9253404" y="2622897"/>
            <a:ext cx="0" cy="7792248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545954" y="8729984"/>
            <a:ext cx="6403664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20854" y="3164681"/>
            <a:ext cx="8251553" cy="6497656"/>
          </a:xfrm>
          <a:custGeom>
            <a:avLst/>
            <a:gdLst/>
            <a:ahLst/>
            <a:cxnLst/>
            <a:rect l="l" t="t" r="r" b="b"/>
            <a:pathLst>
              <a:path w="8251553" h="6497656">
                <a:moveTo>
                  <a:pt x="0" y="0"/>
                </a:moveTo>
                <a:lnTo>
                  <a:pt x="8251553" y="0"/>
                </a:lnTo>
                <a:lnTo>
                  <a:pt x="8251553" y="6497657"/>
                </a:lnTo>
                <a:lnTo>
                  <a:pt x="0" y="6497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1573" y="5738813"/>
            <a:ext cx="8792427" cy="2386334"/>
          </a:xfrm>
          <a:custGeom>
            <a:avLst/>
            <a:gdLst/>
            <a:ahLst/>
            <a:cxnLst/>
            <a:rect l="l" t="t" r="r" b="b"/>
            <a:pathLst>
              <a:path w="8792427" h="2386334">
                <a:moveTo>
                  <a:pt x="0" y="0"/>
                </a:moveTo>
                <a:lnTo>
                  <a:pt x="8792427" y="0"/>
                </a:lnTo>
                <a:lnTo>
                  <a:pt x="8792427" y="2386333"/>
                </a:lnTo>
                <a:lnTo>
                  <a:pt x="0" y="2386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4417" y="515450"/>
            <a:ext cx="14735836" cy="129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999" spc="4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УНИВЕРСАЛЬНЫЙ МЕТОД ГЕНЕРАЦИИ СИНТЕТИЧЕСКИХ ДАННЫХ С ВЫБРОСАМИ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40715" y="2537172"/>
            <a:ext cx="5211832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000" spc="138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ПАРАБОЛА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4417" y="2556222"/>
            <a:ext cx="7648010" cy="178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6"/>
              </a:lnSpc>
            </a:pPr>
            <a:r>
              <a:rPr lang="en-US" sz="3404" spc="-4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Нелинейные модели данных второго порядка</a:t>
            </a:r>
          </a:p>
          <a:p>
            <a:pPr algn="l">
              <a:lnSpc>
                <a:spcPts val="4766"/>
              </a:lnSpc>
            </a:pPr>
            <a:endParaRPr lang="en-US" sz="3404" spc="-4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41870" y="4742390"/>
            <a:ext cx="5211832" cy="5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sz="2900" spc="133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Уравнение параболы: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0" r="-9840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9253404" y="2622897"/>
            <a:ext cx="0" cy="7792248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692548" y="8894784"/>
            <a:ext cx="5780651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41666" y="3517329"/>
            <a:ext cx="8143564" cy="5934622"/>
          </a:xfrm>
          <a:custGeom>
            <a:avLst/>
            <a:gdLst/>
            <a:ahLst/>
            <a:cxnLst/>
            <a:rect l="l" t="t" r="r" b="b"/>
            <a:pathLst>
              <a:path w="8143564" h="5934622">
                <a:moveTo>
                  <a:pt x="0" y="0"/>
                </a:moveTo>
                <a:lnTo>
                  <a:pt x="8143564" y="0"/>
                </a:lnTo>
                <a:lnTo>
                  <a:pt x="8143564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89657" y="5687803"/>
            <a:ext cx="6083542" cy="2864737"/>
          </a:xfrm>
          <a:custGeom>
            <a:avLst/>
            <a:gdLst/>
            <a:ahLst/>
            <a:cxnLst/>
            <a:rect l="l" t="t" r="r" b="b"/>
            <a:pathLst>
              <a:path w="6083542" h="2864737">
                <a:moveTo>
                  <a:pt x="0" y="0"/>
                </a:moveTo>
                <a:lnTo>
                  <a:pt x="6083542" y="0"/>
                </a:lnTo>
                <a:lnTo>
                  <a:pt x="6083542" y="2864736"/>
                </a:lnTo>
                <a:lnTo>
                  <a:pt x="0" y="2864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4417" y="515450"/>
            <a:ext cx="14735836" cy="129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999" spc="4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УНИВЕРСАЛЬНЫЙ МЕТОД ГЕНЕРАЦИИ СИНТЕТИЧЕСКИХ ДАННЫХ С ВЫБРОСАМИ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48531" y="2537172"/>
            <a:ext cx="5211832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000" spc="138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ГИПЕРБОЛА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45714" y="2593780"/>
            <a:ext cx="7648010" cy="178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sz="3404" spc="-4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Нелинейные модели данных второго порядка</a:t>
            </a:r>
          </a:p>
          <a:p>
            <a:pPr algn="ctr">
              <a:lnSpc>
                <a:spcPts val="4766"/>
              </a:lnSpc>
            </a:pPr>
            <a:endParaRPr lang="en-US" sz="3404" spc="-4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89657" y="4863274"/>
            <a:ext cx="6160124" cy="48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699" spc="124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Параметрическое уравнение: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713220"/>
          </a:xfrm>
          <a:custGeom>
            <a:avLst/>
            <a:gdLst/>
            <a:ahLst/>
            <a:cxnLst/>
            <a:rect l="l" t="t" r="r" b="b"/>
            <a:pathLst>
              <a:path w="18288000" h="6713220">
                <a:moveTo>
                  <a:pt x="0" y="0"/>
                </a:moveTo>
                <a:lnTo>
                  <a:pt x="18288000" y="0"/>
                </a:lnTo>
                <a:lnTo>
                  <a:pt x="18288000" y="6713220"/>
                </a:lnTo>
                <a:lnTo>
                  <a:pt x="0" y="671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16" b="-18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4084228"/>
          </a:xfrm>
          <a:custGeom>
            <a:avLst/>
            <a:gdLst/>
            <a:ahLst/>
            <a:cxnLst/>
            <a:rect l="l" t="t" r="r" b="b"/>
            <a:pathLst>
              <a:path w="18288000" h="4084228">
                <a:moveTo>
                  <a:pt x="0" y="0"/>
                </a:moveTo>
                <a:lnTo>
                  <a:pt x="18288000" y="0"/>
                </a:lnTo>
                <a:lnTo>
                  <a:pt x="18288000" y="4084228"/>
                </a:lnTo>
                <a:lnTo>
                  <a:pt x="0" y="408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088" r="-86088" b="-151871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9431387" y="1226095"/>
            <a:ext cx="0" cy="1319074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0" y="4084228"/>
            <a:ext cx="18288000" cy="6202772"/>
          </a:xfrm>
          <a:custGeom>
            <a:avLst/>
            <a:gdLst/>
            <a:ahLst/>
            <a:cxnLst/>
            <a:rect l="l" t="t" r="r" b="b"/>
            <a:pathLst>
              <a:path w="18288000" h="6202772">
                <a:moveTo>
                  <a:pt x="0" y="0"/>
                </a:moveTo>
                <a:lnTo>
                  <a:pt x="18288000" y="0"/>
                </a:lnTo>
                <a:lnTo>
                  <a:pt x="18288000" y="6202772"/>
                </a:lnTo>
                <a:lnTo>
                  <a:pt x="0" y="6202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5" r="-119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07369"/>
            <a:ext cx="7407464" cy="224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500" spc="374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УНИВЕРСАЛЬНЫЙ МЕТОД ГЕНЕРАЦИИ СИНТЕТИЧЕСКИХ ДАННЫХ С ВЫБРОСАМИ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89155" y="981075"/>
            <a:ext cx="6070145" cy="176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55"/>
              </a:lnSpc>
            </a:pPr>
            <a:r>
              <a:rPr lang="en-US" sz="3500" spc="8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МЕХАНИЗМ ГЕНЕРАЦИИ ВЫБРОСОВ</a:t>
            </a:r>
          </a:p>
          <a:p>
            <a:pPr algn="r">
              <a:lnSpc>
                <a:spcPts val="4655"/>
              </a:lnSpc>
            </a:pPr>
            <a:endParaRPr lang="en-US" sz="3500" spc="87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50" y="3044231"/>
            <a:ext cx="18288000" cy="7269081"/>
          </a:xfrm>
          <a:custGeom>
            <a:avLst/>
            <a:gdLst/>
            <a:ahLst/>
            <a:cxnLst/>
            <a:rect l="l" t="t" r="r" b="b"/>
            <a:pathLst>
              <a:path w="18288000" h="7269081">
                <a:moveTo>
                  <a:pt x="0" y="0"/>
                </a:moveTo>
                <a:lnTo>
                  <a:pt x="18288000" y="0"/>
                </a:lnTo>
                <a:lnTo>
                  <a:pt x="18288000" y="7269081"/>
                </a:lnTo>
                <a:lnTo>
                  <a:pt x="0" y="726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96" r="-10996" b="-89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2786896"/>
          </a:xfrm>
          <a:custGeom>
            <a:avLst/>
            <a:gdLst/>
            <a:ahLst/>
            <a:cxnLst/>
            <a:rect l="l" t="t" r="r" b="b"/>
            <a:pathLst>
              <a:path w="18288000" h="2786896">
                <a:moveTo>
                  <a:pt x="0" y="0"/>
                </a:moveTo>
                <a:lnTo>
                  <a:pt x="18288000" y="0"/>
                </a:lnTo>
                <a:lnTo>
                  <a:pt x="18288000" y="2786896"/>
                </a:lnTo>
                <a:lnTo>
                  <a:pt x="0" y="2786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0" t="-5025" r="-3300" b="-73648"/>
            </a:stretch>
          </a:blipFill>
        </p:spPr>
      </p:sp>
      <p:sp>
        <p:nvSpPr>
          <p:cNvPr id="4" name="AutoShape 4"/>
          <p:cNvSpPr/>
          <p:nvPr/>
        </p:nvSpPr>
        <p:spPr>
          <a:xfrm flipH="1" flipV="1">
            <a:off x="743769" y="2987081"/>
            <a:ext cx="16642910" cy="0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43769" y="5143500"/>
            <a:ext cx="8818736" cy="1689571"/>
          </a:xfrm>
          <a:custGeom>
            <a:avLst/>
            <a:gdLst/>
            <a:ahLst/>
            <a:cxnLst/>
            <a:rect l="l" t="t" r="r" b="b"/>
            <a:pathLst>
              <a:path w="8818736" h="1689571">
                <a:moveTo>
                  <a:pt x="0" y="0"/>
                </a:moveTo>
                <a:lnTo>
                  <a:pt x="8818736" y="0"/>
                </a:lnTo>
                <a:lnTo>
                  <a:pt x="8818736" y="1689571"/>
                </a:lnTo>
                <a:lnTo>
                  <a:pt x="0" y="168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3769" y="6874990"/>
            <a:ext cx="8656544" cy="1027965"/>
          </a:xfrm>
          <a:custGeom>
            <a:avLst/>
            <a:gdLst/>
            <a:ahLst/>
            <a:cxnLst/>
            <a:rect l="l" t="t" r="r" b="b"/>
            <a:pathLst>
              <a:path w="8656544" h="1027965">
                <a:moveTo>
                  <a:pt x="0" y="0"/>
                </a:moveTo>
                <a:lnTo>
                  <a:pt x="8656545" y="0"/>
                </a:lnTo>
                <a:lnTo>
                  <a:pt x="8656545" y="1027964"/>
                </a:lnTo>
                <a:lnTo>
                  <a:pt x="0" y="1027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60583" y="7878472"/>
            <a:ext cx="7566603" cy="1849862"/>
          </a:xfrm>
          <a:custGeom>
            <a:avLst/>
            <a:gdLst/>
            <a:ahLst/>
            <a:cxnLst/>
            <a:rect l="l" t="t" r="r" b="b"/>
            <a:pathLst>
              <a:path w="7566603" h="1849862">
                <a:moveTo>
                  <a:pt x="0" y="0"/>
                </a:moveTo>
                <a:lnTo>
                  <a:pt x="7566603" y="0"/>
                </a:lnTo>
                <a:lnTo>
                  <a:pt x="7566603" y="1849861"/>
                </a:lnTo>
                <a:lnTo>
                  <a:pt x="0" y="1849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181146" y="3366474"/>
            <a:ext cx="7882962" cy="7017031"/>
          </a:xfrm>
          <a:custGeom>
            <a:avLst/>
            <a:gdLst/>
            <a:ahLst/>
            <a:cxnLst/>
            <a:rect l="l" t="t" r="r" b="b"/>
            <a:pathLst>
              <a:path w="7882962" h="7017031">
                <a:moveTo>
                  <a:pt x="0" y="0"/>
                </a:moveTo>
                <a:lnTo>
                  <a:pt x="7882963" y="0"/>
                </a:lnTo>
                <a:lnTo>
                  <a:pt x="7882963" y="7017031"/>
                </a:lnTo>
                <a:lnTo>
                  <a:pt x="0" y="7017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3769" y="3328374"/>
            <a:ext cx="9618945" cy="169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Для оценки качества восстановления параметров прямой в двумерном случае используется специальная метрика, инвариантная к масштабу изображения и ориентации.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4719" y="1364873"/>
            <a:ext cx="8400231" cy="111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500" spc="3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МЕТРИКА КАЧЕСТВА АППРОКСИМАЦИИ ПРЯМОЙ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759685"/>
            <a:ext cx="16230600" cy="3181587"/>
            <a:chOff x="0" y="0"/>
            <a:chExt cx="5490351" cy="1076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90351" cy="1076241"/>
            </a:xfrm>
            <a:custGeom>
              <a:avLst/>
              <a:gdLst/>
              <a:ahLst/>
              <a:cxnLst/>
              <a:rect l="l" t="t" r="r" b="b"/>
              <a:pathLst>
                <a:path w="5490351" h="1076241">
                  <a:moveTo>
                    <a:pt x="0" y="0"/>
                  </a:moveTo>
                  <a:lnTo>
                    <a:pt x="5490351" y="0"/>
                  </a:lnTo>
                  <a:lnTo>
                    <a:pt x="5490351" y="1076241"/>
                  </a:lnTo>
                  <a:lnTo>
                    <a:pt x="0" y="107624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flipV="1">
            <a:off x="8496557" y="3547663"/>
            <a:ext cx="0" cy="1605632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28700" y="6160348"/>
            <a:ext cx="16230600" cy="3097952"/>
            <a:chOff x="0" y="0"/>
            <a:chExt cx="5490351" cy="1047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351" cy="1047949"/>
            </a:xfrm>
            <a:custGeom>
              <a:avLst/>
              <a:gdLst/>
              <a:ahLst/>
              <a:cxnLst/>
              <a:rect l="l" t="t" r="r" b="b"/>
              <a:pathLst>
                <a:path w="5490351" h="1047949">
                  <a:moveTo>
                    <a:pt x="0" y="0"/>
                  </a:moveTo>
                  <a:lnTo>
                    <a:pt x="5490351" y="0"/>
                  </a:lnTo>
                  <a:lnTo>
                    <a:pt x="5490351" y="1047949"/>
                  </a:lnTo>
                  <a:lnTo>
                    <a:pt x="0" y="104794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561251" y="3589873"/>
            <a:ext cx="8698049" cy="1478668"/>
          </a:xfrm>
          <a:custGeom>
            <a:avLst/>
            <a:gdLst/>
            <a:ahLst/>
            <a:cxnLst/>
            <a:rect l="l" t="t" r="r" b="b"/>
            <a:pathLst>
              <a:path w="8698049" h="1478668">
                <a:moveTo>
                  <a:pt x="0" y="0"/>
                </a:moveTo>
                <a:lnTo>
                  <a:pt x="8698049" y="0"/>
                </a:lnTo>
                <a:lnTo>
                  <a:pt x="8698049" y="1478669"/>
                </a:lnTo>
                <a:lnTo>
                  <a:pt x="0" y="1478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91395" y="757663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МЕТОДЫ РОБАСТНОЙ РЕГРЕССИИ И ПРЕОБРАЗОВАНИЕ ХАФА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6239" y="3336953"/>
            <a:ext cx="4371219" cy="48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6"/>
              </a:lnSpc>
              <a:spcBef>
                <a:spcPct val="0"/>
              </a:spcBef>
            </a:pPr>
            <a:r>
              <a:rPr lang="en-US" sz="3099" u="none" strike="noStrike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Общий принцип: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9257" y="6795400"/>
            <a:ext cx="13279368" cy="144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099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Инициализация: </a:t>
            </a:r>
          </a:p>
          <a:p>
            <a:pPr algn="l">
              <a:lnSpc>
                <a:spcPts val="3874"/>
              </a:lnSpc>
            </a:pPr>
            <a:r>
              <a:rPr lang="en-US" sz="3099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Задаётся функция потерь ρ(r) с параметром устойчивости.</a:t>
            </a:r>
          </a:p>
          <a:p>
            <a:pPr algn="l">
              <a:lnSpc>
                <a:spcPts val="3875"/>
              </a:lnSpc>
            </a:pPr>
            <a:r>
              <a:rPr lang="en-US" sz="3100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Выбирается метод оптимизации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9257" y="4058649"/>
            <a:ext cx="6529222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14">
                <a:solidFill>
                  <a:srgbClr val="929292"/>
                </a:solidFill>
                <a:latin typeface="Inter"/>
                <a:ea typeface="Inter"/>
                <a:cs typeface="Inter"/>
                <a:sym typeface="Inter"/>
              </a:rPr>
              <a:t>Для нахождения параметров модели минимизируется сумма функций потерь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1395" y="1501161"/>
            <a:ext cx="7047279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27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Робастные методы регрессии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759685"/>
            <a:ext cx="16230600" cy="3181587"/>
            <a:chOff x="0" y="0"/>
            <a:chExt cx="5490351" cy="1076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90351" cy="1076241"/>
            </a:xfrm>
            <a:custGeom>
              <a:avLst/>
              <a:gdLst/>
              <a:ahLst/>
              <a:cxnLst/>
              <a:rect l="l" t="t" r="r" b="b"/>
              <a:pathLst>
                <a:path w="5490351" h="1076241">
                  <a:moveTo>
                    <a:pt x="0" y="0"/>
                  </a:moveTo>
                  <a:lnTo>
                    <a:pt x="5490351" y="0"/>
                  </a:lnTo>
                  <a:lnTo>
                    <a:pt x="5490351" y="1076241"/>
                  </a:lnTo>
                  <a:lnTo>
                    <a:pt x="0" y="107624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flipV="1">
            <a:off x="8496557" y="3547663"/>
            <a:ext cx="0" cy="1605632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28700" y="6160348"/>
            <a:ext cx="16230600" cy="3097952"/>
            <a:chOff x="0" y="0"/>
            <a:chExt cx="5490351" cy="1047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351" cy="1047949"/>
            </a:xfrm>
            <a:custGeom>
              <a:avLst/>
              <a:gdLst/>
              <a:ahLst/>
              <a:cxnLst/>
              <a:rect l="l" t="t" r="r" b="b"/>
              <a:pathLst>
                <a:path w="5490351" h="1047949">
                  <a:moveTo>
                    <a:pt x="0" y="0"/>
                  </a:moveTo>
                  <a:lnTo>
                    <a:pt x="5490351" y="0"/>
                  </a:lnTo>
                  <a:lnTo>
                    <a:pt x="5490351" y="1047949"/>
                  </a:lnTo>
                  <a:lnTo>
                    <a:pt x="0" y="104794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645246" y="3413837"/>
            <a:ext cx="8372218" cy="1873284"/>
          </a:xfrm>
          <a:custGeom>
            <a:avLst/>
            <a:gdLst/>
            <a:ahLst/>
            <a:cxnLst/>
            <a:rect l="l" t="t" r="r" b="b"/>
            <a:pathLst>
              <a:path w="8372218" h="1873284">
                <a:moveTo>
                  <a:pt x="0" y="0"/>
                </a:moveTo>
                <a:lnTo>
                  <a:pt x="8372218" y="0"/>
                </a:lnTo>
                <a:lnTo>
                  <a:pt x="8372218" y="1873284"/>
                </a:lnTo>
                <a:lnTo>
                  <a:pt x="0" y="187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950655" y="7336688"/>
            <a:ext cx="4357583" cy="757038"/>
          </a:xfrm>
          <a:custGeom>
            <a:avLst/>
            <a:gdLst/>
            <a:ahLst/>
            <a:cxnLst/>
            <a:rect l="l" t="t" r="r" b="b"/>
            <a:pathLst>
              <a:path w="4357583" h="757038">
                <a:moveTo>
                  <a:pt x="0" y="0"/>
                </a:moveTo>
                <a:lnTo>
                  <a:pt x="4357582" y="0"/>
                </a:lnTo>
                <a:lnTo>
                  <a:pt x="4357582" y="757038"/>
                </a:lnTo>
                <a:lnTo>
                  <a:pt x="0" y="757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1395" y="757663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МЕТОДЫ РОБАСТНОЙ РЕГРЕССИИ И ПРЕОБРАЗОВАНИЕ ХАФА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3330" y="3722370"/>
            <a:ext cx="6582702" cy="14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6"/>
              </a:lnSpc>
              <a:spcBef>
                <a:spcPct val="0"/>
              </a:spcBef>
            </a:pPr>
            <a:r>
              <a:rPr lang="en-US" sz="3099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Итерат</a:t>
            </a:r>
            <a:r>
              <a:rPr lang="en-US" sz="3099" u="none" strike="noStrike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ивная минимизация:</a:t>
            </a:r>
          </a:p>
          <a:p>
            <a:pPr marL="0" lvl="0" indent="0" algn="l">
              <a:lnSpc>
                <a:spcPts val="3683"/>
              </a:lnSpc>
              <a:spcBef>
                <a:spcPct val="0"/>
              </a:spcBef>
            </a:pPr>
            <a:r>
              <a:rPr lang="en-US" sz="2900" u="none" strike="noStrike" spc="324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где k — номер итерации,</a:t>
            </a:r>
          </a:p>
          <a:p>
            <a:pPr marL="0" lvl="0" indent="0" algn="l">
              <a:lnSpc>
                <a:spcPts val="3683"/>
              </a:lnSpc>
              <a:spcBef>
                <a:spcPct val="0"/>
              </a:spcBef>
            </a:pPr>
            <a:r>
              <a:rPr lang="en-US" sz="2900" u="none" strike="noStrike" spc="324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w(r) — веса точек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3330" y="6980979"/>
            <a:ext cx="15147385" cy="144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099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Сходимость: </a:t>
            </a:r>
          </a:p>
          <a:p>
            <a:pPr algn="l">
              <a:lnSpc>
                <a:spcPts val="3874"/>
              </a:lnSpc>
            </a:pPr>
            <a:r>
              <a:rPr lang="en-US" sz="3099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Обновление весов до стабилизации параметров: </a:t>
            </a:r>
          </a:p>
          <a:p>
            <a:pPr algn="l">
              <a:lnSpc>
                <a:spcPts val="3875"/>
              </a:lnSpc>
            </a:pPr>
            <a:r>
              <a:rPr lang="en-US" sz="3100" spc="8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Отбраковка выбросов (веса wi ≈ 0)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1395" y="1501161"/>
            <a:ext cx="7047279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27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Робастные методы регрессии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180816" cy="10287000"/>
          </a:xfrm>
          <a:custGeom>
            <a:avLst/>
            <a:gdLst/>
            <a:ahLst/>
            <a:cxnLst/>
            <a:rect l="l" t="t" r="r" b="b"/>
            <a:pathLst>
              <a:path w="14180816" h="10287000">
                <a:moveTo>
                  <a:pt x="0" y="0"/>
                </a:moveTo>
                <a:lnTo>
                  <a:pt x="14180816" y="0"/>
                </a:lnTo>
                <a:lnTo>
                  <a:pt x="141808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4150" y="3216951"/>
            <a:ext cx="5539088" cy="1332045"/>
          </a:xfrm>
          <a:custGeom>
            <a:avLst/>
            <a:gdLst/>
            <a:ahLst/>
            <a:cxnLst/>
            <a:rect l="l" t="t" r="r" b="b"/>
            <a:pathLst>
              <a:path w="5539088" h="1332045">
                <a:moveTo>
                  <a:pt x="0" y="0"/>
                </a:moveTo>
                <a:lnTo>
                  <a:pt x="5539088" y="0"/>
                </a:lnTo>
                <a:lnTo>
                  <a:pt x="5539088" y="1332045"/>
                </a:lnTo>
                <a:lnTo>
                  <a:pt x="0" y="133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81064" y="4743112"/>
            <a:ext cx="5405260" cy="878593"/>
          </a:xfrm>
          <a:custGeom>
            <a:avLst/>
            <a:gdLst/>
            <a:ahLst/>
            <a:cxnLst/>
            <a:rect l="l" t="t" r="r" b="b"/>
            <a:pathLst>
              <a:path w="5405260" h="878593">
                <a:moveTo>
                  <a:pt x="0" y="0"/>
                </a:moveTo>
                <a:lnTo>
                  <a:pt x="5405260" y="0"/>
                </a:lnTo>
                <a:lnTo>
                  <a:pt x="5405260" y="878593"/>
                </a:lnTo>
                <a:lnTo>
                  <a:pt x="0" y="87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570651" y="4421060"/>
            <a:ext cx="4794595" cy="1890826"/>
          </a:xfrm>
          <a:custGeom>
            <a:avLst/>
            <a:gdLst/>
            <a:ahLst/>
            <a:cxnLst/>
            <a:rect l="l" t="t" r="r" b="b"/>
            <a:pathLst>
              <a:path w="4794595" h="1890826">
                <a:moveTo>
                  <a:pt x="0" y="0"/>
                </a:moveTo>
                <a:lnTo>
                  <a:pt x="4794596" y="0"/>
                </a:lnTo>
                <a:lnTo>
                  <a:pt x="4794596" y="1890827"/>
                </a:lnTo>
                <a:lnTo>
                  <a:pt x="0" y="1890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48903" y="7504711"/>
            <a:ext cx="4863825" cy="1263507"/>
          </a:xfrm>
          <a:custGeom>
            <a:avLst/>
            <a:gdLst/>
            <a:ahLst/>
            <a:cxnLst/>
            <a:rect l="l" t="t" r="r" b="b"/>
            <a:pathLst>
              <a:path w="4863825" h="1263507">
                <a:moveTo>
                  <a:pt x="0" y="0"/>
                </a:moveTo>
                <a:lnTo>
                  <a:pt x="4863825" y="0"/>
                </a:lnTo>
                <a:lnTo>
                  <a:pt x="4863825" y="1263508"/>
                </a:lnTo>
                <a:lnTo>
                  <a:pt x="0" y="1263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966056" y="8670912"/>
            <a:ext cx="4646672" cy="1272919"/>
          </a:xfrm>
          <a:custGeom>
            <a:avLst/>
            <a:gdLst/>
            <a:ahLst/>
            <a:cxnLst/>
            <a:rect l="l" t="t" r="r" b="b"/>
            <a:pathLst>
              <a:path w="4646672" h="1272919">
                <a:moveTo>
                  <a:pt x="0" y="0"/>
                </a:moveTo>
                <a:lnTo>
                  <a:pt x="4646672" y="0"/>
                </a:lnTo>
                <a:lnTo>
                  <a:pt x="4646672" y="1272919"/>
                </a:lnTo>
                <a:lnTo>
                  <a:pt x="0" y="1272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81064" y="8214498"/>
            <a:ext cx="5421972" cy="1043802"/>
          </a:xfrm>
          <a:custGeom>
            <a:avLst/>
            <a:gdLst/>
            <a:ahLst/>
            <a:cxnLst/>
            <a:rect l="l" t="t" r="r" b="b"/>
            <a:pathLst>
              <a:path w="5421972" h="1043802">
                <a:moveTo>
                  <a:pt x="0" y="0"/>
                </a:moveTo>
                <a:lnTo>
                  <a:pt x="5421972" y="0"/>
                </a:lnTo>
                <a:lnTo>
                  <a:pt x="5421972" y="1043802"/>
                </a:lnTo>
                <a:lnTo>
                  <a:pt x="0" y="10438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81746" y="2601364"/>
            <a:ext cx="6582702" cy="4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3"/>
              </a:lnSpc>
              <a:spcBef>
                <a:spcPct val="0"/>
              </a:spcBef>
            </a:pPr>
            <a:r>
              <a:rPr lang="en-US" sz="2900" b="1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RANSAC</a:t>
            </a:r>
            <a:r>
              <a:rPr lang="en-US" sz="2900" b="1" u="none" strike="noStrike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1746" y="782002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МЕТОДЫ РОБАСТНОЙ РЕГРЕССИИ И ПРЕОБРАЗОВАНИЕ ХАФА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1746" y="1546055"/>
            <a:ext cx="7047279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27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Робастные методы регрессии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76598" y="2588473"/>
            <a:ext cx="6582702" cy="91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3"/>
              </a:lnSpc>
              <a:spcBef>
                <a:spcPct val="0"/>
              </a:spcBef>
            </a:pPr>
            <a:r>
              <a:rPr lang="en-US" sz="2900" b="1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Theil-Sen</a:t>
            </a:r>
            <a:r>
              <a:rPr lang="en-US" sz="2900" b="1" u="none" strike="noStrike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</a:p>
          <a:p>
            <a:pPr marL="0" lvl="0" indent="0" algn="ctr">
              <a:lnSpc>
                <a:spcPts val="3683"/>
              </a:lnSpc>
              <a:spcBef>
                <a:spcPct val="0"/>
              </a:spcBef>
            </a:pPr>
            <a:endParaRPr lang="en-US" sz="2900" b="1" u="none" strike="noStrike" spc="324">
              <a:solidFill>
                <a:srgbClr val="F271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89465" y="3284486"/>
            <a:ext cx="6582702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5"/>
              </a:lnSpc>
              <a:spcBef>
                <a:spcPct val="0"/>
              </a:spcBef>
            </a:pPr>
            <a:r>
              <a:rPr lang="en-US" sz="2500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Для всех пар точек вычисляются углы наклона</a:t>
            </a:r>
            <a:r>
              <a:rPr lang="en-US" sz="2500" u="none" strike="noStrike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0" lvl="0" indent="0" algn="ctr">
              <a:lnSpc>
                <a:spcPts val="3175"/>
              </a:lnSpc>
              <a:spcBef>
                <a:spcPct val="0"/>
              </a:spcBef>
            </a:pPr>
            <a:endParaRPr lang="en-US" sz="2500" u="none" strike="noStrike" spc="28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889465" y="6900849"/>
            <a:ext cx="6582702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5"/>
              </a:lnSpc>
              <a:spcBef>
                <a:spcPct val="0"/>
              </a:spcBef>
            </a:pPr>
            <a:r>
              <a:rPr lang="en-US" sz="2500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Финальная оценка</a:t>
            </a:r>
            <a:r>
              <a:rPr lang="en-US" sz="2500" u="none" strike="noStrike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1746" y="6302362"/>
            <a:ext cx="6582702" cy="4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3"/>
              </a:lnSpc>
              <a:spcBef>
                <a:spcPct val="0"/>
              </a:spcBef>
            </a:pPr>
            <a:r>
              <a:rPr lang="en-US" sz="2900" b="1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LMedS</a:t>
            </a:r>
            <a:r>
              <a:rPr lang="en-US" sz="2900" b="1" u="none" strike="noStrike" spc="324">
                <a:solidFill>
                  <a:srgbClr val="F27100"/>
                </a:solidFill>
                <a:latin typeface="Inter Bold"/>
                <a:ea typeface="Inter Bold"/>
                <a:cs typeface="Inter Bold"/>
                <a:sym typeface="Inter Bold"/>
              </a:rPr>
              <a:t>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2343" y="7089762"/>
            <a:ext cx="6582702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5"/>
              </a:lnSpc>
              <a:spcBef>
                <a:spcPct val="0"/>
              </a:spcBef>
            </a:pPr>
            <a:r>
              <a:rPr lang="en-US" sz="2500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Реализация чем-то похожа на RANSAC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9476956" y="2831361"/>
            <a:ext cx="0" cy="6476010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89" r="-7989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481746" y="2338760"/>
            <a:ext cx="15019660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54069" y="8010148"/>
            <a:ext cx="10297097" cy="1505950"/>
          </a:xfrm>
          <a:custGeom>
            <a:avLst/>
            <a:gdLst/>
            <a:ahLst/>
            <a:cxnLst/>
            <a:rect l="l" t="t" r="r" b="b"/>
            <a:pathLst>
              <a:path w="10297097" h="1505950">
                <a:moveTo>
                  <a:pt x="0" y="0"/>
                </a:moveTo>
                <a:lnTo>
                  <a:pt x="10297097" y="0"/>
                </a:lnTo>
                <a:lnTo>
                  <a:pt x="10297097" y="1505950"/>
                </a:lnTo>
                <a:lnTo>
                  <a:pt x="0" y="1505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31942" y="4962767"/>
            <a:ext cx="5064133" cy="1380162"/>
          </a:xfrm>
          <a:custGeom>
            <a:avLst/>
            <a:gdLst/>
            <a:ahLst/>
            <a:cxnLst/>
            <a:rect l="l" t="t" r="r" b="b"/>
            <a:pathLst>
              <a:path w="5064133" h="1380162">
                <a:moveTo>
                  <a:pt x="0" y="0"/>
                </a:moveTo>
                <a:lnTo>
                  <a:pt x="5064133" y="0"/>
                </a:lnTo>
                <a:lnTo>
                  <a:pt x="5064133" y="1380162"/>
                </a:lnTo>
                <a:lnTo>
                  <a:pt x="0" y="138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9608637" y="4136459"/>
            <a:ext cx="0" cy="3453869"/>
          </a:xfrm>
          <a:prstGeom prst="line">
            <a:avLst/>
          </a:prstGeom>
          <a:ln w="38100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rot="-543364">
            <a:off x="11297242" y="8542044"/>
            <a:ext cx="6896544" cy="1743293"/>
          </a:xfrm>
          <a:custGeom>
            <a:avLst/>
            <a:gdLst/>
            <a:ahLst/>
            <a:cxnLst/>
            <a:rect l="l" t="t" r="r" b="b"/>
            <a:pathLst>
              <a:path w="6896544" h="1743293">
                <a:moveTo>
                  <a:pt x="0" y="0"/>
                </a:moveTo>
                <a:lnTo>
                  <a:pt x="6896543" y="0"/>
                </a:lnTo>
                <a:lnTo>
                  <a:pt x="6896543" y="1743293"/>
                </a:lnTo>
                <a:lnTo>
                  <a:pt x="0" y="1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1746" y="877948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МЕТОДЫ РОБАСТНОЙ РЕГРЕССИИ И ПРЕОБРАЗОВАНИЕ ХАФА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1746" y="1670571"/>
            <a:ext cx="7047279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27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Преобразование Хафа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8053" y="3002364"/>
            <a:ext cx="7047279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0"/>
              </a:lnSpc>
            </a:pPr>
            <a:r>
              <a:rPr lang="en-US" sz="3299" b="1" spc="369">
                <a:solidFill>
                  <a:srgbClr val="D4D4D4"/>
                </a:solidFill>
                <a:latin typeface="Inter Bold"/>
                <a:ea typeface="Inter Bold"/>
                <a:cs typeface="Inter Bold"/>
                <a:sym typeface="Inter Bold"/>
              </a:rPr>
              <a:t>Основные этапы: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8053" y="4189082"/>
            <a:ext cx="7047279" cy="14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1. Гистограмма: </a:t>
            </a:r>
          </a:p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Преобразование данных в 2D-гистограмму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8053" y="6465193"/>
            <a:ext cx="7047279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2. Сглаживание: </a:t>
            </a:r>
          </a:p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Свертка с гауссовским ядром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31942" y="3654494"/>
            <a:ext cx="7047279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3. Аккумулятор: </a:t>
            </a:r>
          </a:p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Формирование аккумулятора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31942" y="6687272"/>
            <a:ext cx="7047279" cy="14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4. Детектирование: </a:t>
            </a:r>
          </a:p>
          <a:p>
            <a:pPr algn="l">
              <a:lnSpc>
                <a:spcPts val="3810"/>
              </a:lnSpc>
            </a:pPr>
            <a:r>
              <a:rPr lang="en-US" sz="3000" spc="336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Поиск локальных максимумов в A(ρ, θ)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713220"/>
          </a:xfrm>
          <a:custGeom>
            <a:avLst/>
            <a:gdLst/>
            <a:ahLst/>
            <a:cxnLst/>
            <a:rect l="l" t="t" r="r" b="b"/>
            <a:pathLst>
              <a:path w="18288000" h="6713220">
                <a:moveTo>
                  <a:pt x="0" y="0"/>
                </a:moveTo>
                <a:lnTo>
                  <a:pt x="18288000" y="0"/>
                </a:lnTo>
                <a:lnTo>
                  <a:pt x="18288000" y="6713220"/>
                </a:lnTo>
                <a:lnTo>
                  <a:pt x="0" y="671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16" b="-18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088" r="-860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356610"/>
            <a:ext cx="18288000" cy="6930390"/>
          </a:xfrm>
          <a:custGeom>
            <a:avLst/>
            <a:gdLst/>
            <a:ahLst/>
            <a:cxnLst/>
            <a:rect l="l" t="t" r="r" b="b"/>
            <a:pathLst>
              <a:path w="18288000" h="6930390">
                <a:moveTo>
                  <a:pt x="0" y="0"/>
                </a:moveTo>
                <a:lnTo>
                  <a:pt x="18288000" y="0"/>
                </a:lnTo>
                <a:lnTo>
                  <a:pt x="18288000" y="6930390"/>
                </a:lnTo>
                <a:lnTo>
                  <a:pt x="0" y="6930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0" r="-209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81746" y="1009650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МЕТОДЫ РОБАСТНОЙ РЕГРЕССИИ И ПРЕОБРАЗОВАНИЕ ХАФА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1746" y="2156014"/>
            <a:ext cx="7047279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spc="279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Преобразование Хафа </a:t>
            </a:r>
          </a:p>
        </p:txBody>
      </p:sp>
      <p:sp>
        <p:nvSpPr>
          <p:cNvPr id="7" name="AutoShape 7"/>
          <p:cNvSpPr/>
          <p:nvPr/>
        </p:nvSpPr>
        <p:spPr>
          <a:xfrm>
            <a:off x="547339" y="3248214"/>
            <a:ext cx="17193322" cy="0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713220"/>
          </a:xfrm>
          <a:custGeom>
            <a:avLst/>
            <a:gdLst/>
            <a:ahLst/>
            <a:cxnLst/>
            <a:rect l="l" t="t" r="r" b="b"/>
            <a:pathLst>
              <a:path w="18288000" h="6713220">
                <a:moveTo>
                  <a:pt x="0" y="0"/>
                </a:moveTo>
                <a:lnTo>
                  <a:pt x="18288000" y="0"/>
                </a:lnTo>
                <a:lnTo>
                  <a:pt x="18288000" y="6713220"/>
                </a:lnTo>
                <a:lnTo>
                  <a:pt x="0" y="671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16" b="-18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088" r="-86088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769556" y="1897380"/>
            <a:ext cx="0" cy="6492240"/>
          </a:xfrm>
          <a:prstGeom prst="line">
            <a:avLst/>
          </a:prstGeom>
          <a:ln w="38100" cap="flat">
            <a:solidFill>
              <a:srgbClr val="D4D4D4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7520805" y="2320718"/>
            <a:ext cx="0" cy="6492240"/>
          </a:xfrm>
          <a:prstGeom prst="line">
            <a:avLst/>
          </a:prstGeom>
          <a:ln w="38100" cap="flat">
            <a:solidFill>
              <a:srgbClr val="D4D4D4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586053" y="0"/>
            <a:ext cx="15118255" cy="10431596"/>
          </a:xfrm>
          <a:custGeom>
            <a:avLst/>
            <a:gdLst/>
            <a:ahLst/>
            <a:cxnLst/>
            <a:rect l="l" t="t" r="r" b="b"/>
            <a:pathLst>
              <a:path w="15118255" h="10431596">
                <a:moveTo>
                  <a:pt x="0" y="0"/>
                </a:moveTo>
                <a:lnTo>
                  <a:pt x="15118254" y="0"/>
                </a:lnTo>
                <a:lnTo>
                  <a:pt x="15118254" y="10431596"/>
                </a:lnTo>
                <a:lnTo>
                  <a:pt x="0" y="10431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0113" y="938866"/>
            <a:ext cx="12587774" cy="7490249"/>
          </a:xfrm>
          <a:custGeom>
            <a:avLst/>
            <a:gdLst/>
            <a:ahLst/>
            <a:cxnLst/>
            <a:rect l="l" t="t" r="r" b="b"/>
            <a:pathLst>
              <a:path w="12587774" h="7490249">
                <a:moveTo>
                  <a:pt x="0" y="0"/>
                </a:moveTo>
                <a:lnTo>
                  <a:pt x="12587774" y="0"/>
                </a:lnTo>
                <a:lnTo>
                  <a:pt x="12587774" y="7490248"/>
                </a:lnTo>
                <a:lnTo>
                  <a:pt x="0" y="749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1" b="-52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3753" y="230022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 ОПТИМИЗАЦИЯ ПАРАМЕТРА Ε В HUBER-РЕГРЕССИ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7617" y="8410064"/>
            <a:ext cx="1663276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Меньший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ϵ ⇒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более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агрессивное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подавление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выбросов</a:t>
            </a:r>
            <a:endParaRPr lang="en-US" sz="2700" spc="302" dirty="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29"/>
              </a:lnSpc>
            </a:pPr>
            <a:r>
              <a:rPr lang="ru-RU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 err="1" smtClean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2700" spc="302" dirty="0" smtClean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ϵ → ∞: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переход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к OLS (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чувствительность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к </a:t>
            </a:r>
            <a:r>
              <a:rPr lang="en-US" sz="2700" spc="302" dirty="0" err="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выбросам</a:t>
            </a:r>
            <a:r>
              <a:rPr lang="en-US" sz="2700" spc="302" dirty="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78104" y="704367"/>
            <a:ext cx="12931793" cy="7726746"/>
          </a:xfrm>
          <a:custGeom>
            <a:avLst/>
            <a:gdLst/>
            <a:ahLst/>
            <a:cxnLst/>
            <a:rect l="l" t="t" r="r" b="b"/>
            <a:pathLst>
              <a:path w="12931793" h="7726746">
                <a:moveTo>
                  <a:pt x="0" y="0"/>
                </a:moveTo>
                <a:lnTo>
                  <a:pt x="12931792" y="0"/>
                </a:lnTo>
                <a:lnTo>
                  <a:pt x="12931792" y="7726746"/>
                </a:lnTo>
                <a:lnTo>
                  <a:pt x="0" y="7726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3753" y="230022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ОПТИМИЗАЦИЯ ПАРАМЕТРОВ ПРЕОБРАЗОВАНИЯ ХАФА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3753" y="8659813"/>
            <a:ext cx="17468198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500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Очень стабильный метод. Может верно предсказывать даже на экстремально зашумленных данных.</a:t>
            </a:r>
          </a:p>
          <a:p>
            <a:pPr algn="l">
              <a:lnSpc>
                <a:spcPts val="3175"/>
              </a:lnSpc>
            </a:pPr>
            <a:r>
              <a:rPr lang="en-US" sz="2500" spc="28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При низкой зашумленности (≈ 10%) лучше использовать робастные методы регрессии.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3056" y="123819"/>
            <a:ext cx="17421888" cy="10039363"/>
          </a:xfrm>
          <a:custGeom>
            <a:avLst/>
            <a:gdLst/>
            <a:ahLst/>
            <a:cxnLst/>
            <a:rect l="l" t="t" r="r" b="b"/>
            <a:pathLst>
              <a:path w="17421888" h="10039363">
                <a:moveTo>
                  <a:pt x="0" y="0"/>
                </a:moveTo>
                <a:lnTo>
                  <a:pt x="17421888" y="0"/>
                </a:lnTo>
                <a:lnTo>
                  <a:pt x="17421888" y="10039362"/>
                </a:lnTo>
                <a:lnTo>
                  <a:pt x="0" y="1003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890" y="646949"/>
            <a:ext cx="18404978" cy="6465238"/>
          </a:xfrm>
          <a:custGeom>
            <a:avLst/>
            <a:gdLst/>
            <a:ahLst/>
            <a:cxnLst/>
            <a:rect l="l" t="t" r="r" b="b"/>
            <a:pathLst>
              <a:path w="18404978" h="6465238">
                <a:moveTo>
                  <a:pt x="0" y="0"/>
                </a:moveTo>
                <a:lnTo>
                  <a:pt x="18404978" y="0"/>
                </a:lnTo>
                <a:lnTo>
                  <a:pt x="18404978" y="6465238"/>
                </a:lnTo>
                <a:lnTo>
                  <a:pt x="0" y="646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05632" y="7640587"/>
            <a:ext cx="19122209" cy="196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3104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М-оценки показывают похожие результаты с RANSAC и Theil–Sen</a:t>
            </a:r>
          </a:p>
          <a:p>
            <a:pPr algn="l">
              <a:lnSpc>
                <a:spcPts val="3942"/>
              </a:lnSpc>
            </a:pPr>
            <a:r>
              <a:rPr lang="en-US" sz="3104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meds продемонстрировал хорошую робастность при шумах до 40%.</a:t>
            </a:r>
          </a:p>
          <a:p>
            <a:pPr algn="l">
              <a:lnSpc>
                <a:spcPts val="3942"/>
              </a:lnSpc>
            </a:pPr>
            <a:r>
              <a:rPr lang="en-US" sz="3104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hough показал превосходные результаты.</a:t>
            </a:r>
          </a:p>
          <a:p>
            <a:pPr algn="l">
              <a:lnSpc>
                <a:spcPts val="3942"/>
              </a:lnSpc>
            </a:pPr>
            <a:r>
              <a:rPr lang="en-US" sz="3104" spc="34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025217" y="4929812"/>
            <a:ext cx="3840780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26119" y="2868502"/>
            <a:ext cx="17835763" cy="7077829"/>
          </a:xfrm>
          <a:custGeom>
            <a:avLst/>
            <a:gdLst/>
            <a:ahLst/>
            <a:cxnLst/>
            <a:rect l="l" t="t" r="r" b="b"/>
            <a:pathLst>
              <a:path w="17835763" h="7077829">
                <a:moveTo>
                  <a:pt x="0" y="0"/>
                </a:moveTo>
                <a:lnTo>
                  <a:pt x="17835762" y="0"/>
                </a:lnTo>
                <a:lnTo>
                  <a:pt x="17835762" y="7077829"/>
                </a:lnTo>
                <a:lnTo>
                  <a:pt x="0" y="7077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14" r="-2214"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7502327" y="9629170"/>
            <a:ext cx="4943806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176398" y="2487070"/>
            <a:ext cx="4885483" cy="4885483"/>
          </a:xfrm>
          <a:custGeom>
            <a:avLst/>
            <a:gdLst/>
            <a:ahLst/>
            <a:cxnLst/>
            <a:rect l="l" t="t" r="r" b="b"/>
            <a:pathLst>
              <a:path w="4885483" h="4885483">
                <a:moveTo>
                  <a:pt x="0" y="0"/>
                </a:moveTo>
                <a:lnTo>
                  <a:pt x="4885483" y="0"/>
                </a:lnTo>
                <a:lnTo>
                  <a:pt x="4885483" y="4885483"/>
                </a:lnTo>
                <a:lnTo>
                  <a:pt x="0" y="4885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325487" y="1800555"/>
            <a:ext cx="563702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5400" spc="577">
                <a:solidFill>
                  <a:srgbClr val="F27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ПАРАБОЛА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243" y="554355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Математическая модель и начальные приближения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77284" y="3557174"/>
            <a:ext cx="3236351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5106690" y="5375235"/>
            <a:ext cx="5279690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6724" y="1499997"/>
            <a:ext cx="12742488" cy="8680820"/>
          </a:xfrm>
          <a:custGeom>
            <a:avLst/>
            <a:gdLst/>
            <a:ahLst/>
            <a:cxnLst/>
            <a:rect l="l" t="t" r="r" b="b"/>
            <a:pathLst>
              <a:path w="12742488" h="8680820">
                <a:moveTo>
                  <a:pt x="0" y="0"/>
                </a:moveTo>
                <a:lnTo>
                  <a:pt x="12742488" y="0"/>
                </a:lnTo>
                <a:lnTo>
                  <a:pt x="12742488" y="8680820"/>
                </a:lnTo>
                <a:lnTo>
                  <a:pt x="0" y="868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94897" y="5143500"/>
            <a:ext cx="7012488" cy="4654539"/>
          </a:xfrm>
          <a:custGeom>
            <a:avLst/>
            <a:gdLst/>
            <a:ahLst/>
            <a:cxnLst/>
            <a:rect l="l" t="t" r="r" b="b"/>
            <a:pathLst>
              <a:path w="7012488" h="4654539">
                <a:moveTo>
                  <a:pt x="0" y="0"/>
                </a:moveTo>
                <a:lnTo>
                  <a:pt x="7012488" y="0"/>
                </a:lnTo>
                <a:lnTo>
                  <a:pt x="7012488" y="4654539"/>
                </a:lnTo>
                <a:lnTo>
                  <a:pt x="0" y="4654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25487" y="1202436"/>
            <a:ext cx="5637025" cy="54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300" spc="353">
                <a:solidFill>
                  <a:srgbClr val="F27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ЭЛЛИПС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3821" y="330464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Математическая модель и начальные приближения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616120" y="4867115"/>
            <a:ext cx="5564865" cy="14288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572840" y="5066796"/>
            <a:ext cx="5279690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02169" y="2197607"/>
            <a:ext cx="8726509" cy="1218359"/>
          </a:xfrm>
          <a:custGeom>
            <a:avLst/>
            <a:gdLst/>
            <a:ahLst/>
            <a:cxnLst/>
            <a:rect l="l" t="t" r="r" b="b"/>
            <a:pathLst>
              <a:path w="8726509" h="1218359">
                <a:moveTo>
                  <a:pt x="0" y="0"/>
                </a:moveTo>
                <a:lnTo>
                  <a:pt x="8726509" y="0"/>
                </a:lnTo>
                <a:lnTo>
                  <a:pt x="8726509" y="1218360"/>
                </a:lnTo>
                <a:lnTo>
                  <a:pt x="0" y="121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9504" b="-10290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3408133"/>
            <a:ext cx="5823830" cy="1644376"/>
          </a:xfrm>
          <a:custGeom>
            <a:avLst/>
            <a:gdLst/>
            <a:ahLst/>
            <a:cxnLst/>
            <a:rect l="l" t="t" r="r" b="b"/>
            <a:pathLst>
              <a:path w="5823830" h="1644376">
                <a:moveTo>
                  <a:pt x="0" y="0"/>
                </a:moveTo>
                <a:lnTo>
                  <a:pt x="5823830" y="0"/>
                </a:lnTo>
                <a:lnTo>
                  <a:pt x="5823830" y="1644375"/>
                </a:lnTo>
                <a:lnTo>
                  <a:pt x="0" y="1644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12" y="5341380"/>
            <a:ext cx="9131488" cy="4424689"/>
          </a:xfrm>
          <a:custGeom>
            <a:avLst/>
            <a:gdLst/>
            <a:ahLst/>
            <a:cxnLst/>
            <a:rect l="l" t="t" r="r" b="b"/>
            <a:pathLst>
              <a:path w="9131488" h="4424689">
                <a:moveTo>
                  <a:pt x="0" y="0"/>
                </a:moveTo>
                <a:lnTo>
                  <a:pt x="9131488" y="0"/>
                </a:lnTo>
                <a:lnTo>
                  <a:pt x="9131488" y="4424689"/>
                </a:lnTo>
                <a:lnTo>
                  <a:pt x="0" y="4424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16120" y="2538480"/>
            <a:ext cx="5262208" cy="1055047"/>
          </a:xfrm>
          <a:custGeom>
            <a:avLst/>
            <a:gdLst/>
            <a:ahLst/>
            <a:cxnLst/>
            <a:rect l="l" t="t" r="r" b="b"/>
            <a:pathLst>
              <a:path w="5262208" h="1055047">
                <a:moveTo>
                  <a:pt x="0" y="0"/>
                </a:moveTo>
                <a:lnTo>
                  <a:pt x="5262209" y="0"/>
                </a:lnTo>
                <a:lnTo>
                  <a:pt x="5262209" y="1055047"/>
                </a:lnTo>
                <a:lnTo>
                  <a:pt x="0" y="1055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51703" y="3593527"/>
            <a:ext cx="6180992" cy="1273588"/>
          </a:xfrm>
          <a:custGeom>
            <a:avLst/>
            <a:gdLst/>
            <a:ahLst/>
            <a:cxnLst/>
            <a:rect l="l" t="t" r="r" b="b"/>
            <a:pathLst>
              <a:path w="6180992" h="1273588">
                <a:moveTo>
                  <a:pt x="0" y="0"/>
                </a:moveTo>
                <a:lnTo>
                  <a:pt x="6180992" y="0"/>
                </a:lnTo>
                <a:lnTo>
                  <a:pt x="6180992" y="1273588"/>
                </a:lnTo>
                <a:lnTo>
                  <a:pt x="0" y="1273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985419" y="5196944"/>
            <a:ext cx="4713560" cy="4713560"/>
          </a:xfrm>
          <a:custGeom>
            <a:avLst/>
            <a:gdLst/>
            <a:ahLst/>
            <a:cxnLst/>
            <a:rect l="l" t="t" r="r" b="b"/>
            <a:pathLst>
              <a:path w="4713560" h="4713560">
                <a:moveTo>
                  <a:pt x="0" y="0"/>
                </a:moveTo>
                <a:lnTo>
                  <a:pt x="4713560" y="0"/>
                </a:lnTo>
                <a:lnTo>
                  <a:pt x="4713560" y="4713560"/>
                </a:lnTo>
                <a:lnTo>
                  <a:pt x="0" y="4713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25487" y="1202436"/>
            <a:ext cx="5637025" cy="54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300" spc="353">
                <a:solidFill>
                  <a:srgbClr val="F27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ГИПЕРБОЛА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3821" y="330464"/>
            <a:ext cx="1532450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spc="32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Математическая модель и начальные приближения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5526" y="3075178"/>
            <a:ext cx="17696949" cy="7100901"/>
          </a:xfrm>
          <a:custGeom>
            <a:avLst/>
            <a:gdLst/>
            <a:ahLst/>
            <a:cxnLst/>
            <a:rect l="l" t="t" r="r" b="b"/>
            <a:pathLst>
              <a:path w="17696949" h="7100901">
                <a:moveTo>
                  <a:pt x="0" y="0"/>
                </a:moveTo>
                <a:lnTo>
                  <a:pt x="17696948" y="0"/>
                </a:lnTo>
                <a:lnTo>
                  <a:pt x="17696948" y="7100901"/>
                </a:lnTo>
                <a:lnTo>
                  <a:pt x="0" y="710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2251" y="297189"/>
            <a:ext cx="15324507" cy="4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ru-RU" sz="3000" spc="321" dirty="0" smtClean="0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РОБАСТНЫЕ</a:t>
            </a:r>
            <a:r>
              <a:rPr lang="en-US" sz="3000" spc="321" dirty="0" smtClean="0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3000" spc="321" dirty="0" smtClean="0">
                <a:solidFill>
                  <a:srgbClr val="F27100"/>
                </a:solidFill>
                <a:latin typeface="Inter"/>
                <a:ea typeface="Inter"/>
                <a:cs typeface="Inter"/>
                <a:sym typeface="Inter"/>
              </a:rPr>
              <a:t>МЕТОДЫ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2251" y="1009650"/>
            <a:ext cx="17468198" cy="180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4" lvl="1" indent="-248287" algn="l">
              <a:lnSpc>
                <a:spcPts val="2921"/>
              </a:lnSpc>
              <a:buFont typeface="Arial"/>
              <a:buChar char="•"/>
            </a:pPr>
            <a:r>
              <a:rPr lang="en-US" sz="2300" spc="25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Для подгонки параметров используется функция least_squares с различными вариантами функции потерь (loss). </a:t>
            </a:r>
          </a:p>
          <a:p>
            <a:pPr marL="496574" lvl="1" indent="-248287" algn="l">
              <a:lnSpc>
                <a:spcPts val="2921"/>
              </a:lnSpc>
              <a:buFont typeface="Arial"/>
              <a:buChar char="•"/>
            </a:pPr>
            <a:r>
              <a:rPr lang="en-US" sz="2300" spc="25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Поддерживаются следующие функции потерь:</a:t>
            </a:r>
          </a:p>
          <a:p>
            <a:pPr marL="496574" lvl="1" indent="-248287" algn="l">
              <a:lnSpc>
                <a:spcPts val="2921"/>
              </a:lnSpc>
              <a:buFont typeface="Arial"/>
              <a:buChar char="•"/>
            </a:pPr>
            <a:r>
              <a:rPr lang="en-US" sz="2300" b="1" spc="257">
                <a:solidFill>
                  <a:srgbClr val="D4D4D4"/>
                </a:solidFill>
                <a:latin typeface="Inter Bold"/>
                <a:ea typeface="Inter Bold"/>
                <a:cs typeface="Inter Bold"/>
                <a:sym typeface="Inter Bold"/>
              </a:rPr>
              <a:t>soft_l1, huber, cauchy, arctan</a:t>
            </a:r>
            <a:r>
              <a:rPr lang="en-US" sz="2300" spc="257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стандартные функции потерь, которые уменьшают влияние выбросов.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50" y="1365046"/>
            <a:ext cx="18288000" cy="8948266"/>
          </a:xfrm>
          <a:custGeom>
            <a:avLst/>
            <a:gdLst/>
            <a:ahLst/>
            <a:cxnLst/>
            <a:rect l="l" t="t" r="r" b="b"/>
            <a:pathLst>
              <a:path w="18288000" h="8948266">
                <a:moveTo>
                  <a:pt x="0" y="0"/>
                </a:moveTo>
                <a:lnTo>
                  <a:pt x="18288000" y="0"/>
                </a:lnTo>
                <a:lnTo>
                  <a:pt x="18288000" y="8948266"/>
                </a:lnTo>
                <a:lnTo>
                  <a:pt x="0" y="8948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87" r="-25087" b="-89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365046"/>
          </a:xfrm>
          <a:custGeom>
            <a:avLst/>
            <a:gdLst/>
            <a:ahLst/>
            <a:cxnLst/>
            <a:rect l="l" t="t" r="r" b="b"/>
            <a:pathLst>
              <a:path w="18288000" h="1365046">
                <a:moveTo>
                  <a:pt x="0" y="0"/>
                </a:moveTo>
                <a:lnTo>
                  <a:pt x="18288000" y="0"/>
                </a:lnTo>
                <a:lnTo>
                  <a:pt x="18288000" y="1365046"/>
                </a:lnTo>
                <a:lnTo>
                  <a:pt x="0" y="1365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0" t="-10259" r="-3300" b="-254522"/>
            </a:stretch>
          </a:blipFill>
        </p:spPr>
      </p:sp>
      <p:sp>
        <p:nvSpPr>
          <p:cNvPr id="4" name="AutoShape 4"/>
          <p:cNvSpPr/>
          <p:nvPr/>
        </p:nvSpPr>
        <p:spPr>
          <a:xfrm flipH="1">
            <a:off x="590384" y="1365046"/>
            <a:ext cx="9338420" cy="19050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8700" y="2911271"/>
            <a:ext cx="5813640" cy="1285920"/>
          </a:xfrm>
          <a:custGeom>
            <a:avLst/>
            <a:gdLst/>
            <a:ahLst/>
            <a:cxnLst/>
            <a:rect l="l" t="t" r="r" b="b"/>
            <a:pathLst>
              <a:path w="5813640" h="1285920">
                <a:moveTo>
                  <a:pt x="0" y="0"/>
                </a:moveTo>
                <a:lnTo>
                  <a:pt x="5813640" y="0"/>
                </a:lnTo>
                <a:lnTo>
                  <a:pt x="5813640" y="1285920"/>
                </a:lnTo>
                <a:lnTo>
                  <a:pt x="0" y="128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36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7402" y="5667216"/>
            <a:ext cx="6075062" cy="2215828"/>
          </a:xfrm>
          <a:custGeom>
            <a:avLst/>
            <a:gdLst/>
            <a:ahLst/>
            <a:cxnLst/>
            <a:rect l="l" t="t" r="r" b="b"/>
            <a:pathLst>
              <a:path w="6075062" h="2215828">
                <a:moveTo>
                  <a:pt x="0" y="0"/>
                </a:moveTo>
                <a:lnTo>
                  <a:pt x="6075062" y="0"/>
                </a:lnTo>
                <a:lnTo>
                  <a:pt x="6075062" y="2215828"/>
                </a:lnTo>
                <a:lnTo>
                  <a:pt x="0" y="2215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11643" y="4395785"/>
            <a:ext cx="6647657" cy="1495431"/>
          </a:xfrm>
          <a:custGeom>
            <a:avLst/>
            <a:gdLst/>
            <a:ahLst/>
            <a:cxnLst/>
            <a:rect l="l" t="t" r="r" b="b"/>
            <a:pathLst>
              <a:path w="6647657" h="1495431">
                <a:moveTo>
                  <a:pt x="0" y="0"/>
                </a:moveTo>
                <a:lnTo>
                  <a:pt x="6647657" y="0"/>
                </a:lnTo>
                <a:lnTo>
                  <a:pt x="6647657" y="1495430"/>
                </a:lnTo>
                <a:lnTo>
                  <a:pt x="0" y="1495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0384" y="1698421"/>
            <a:ext cx="9618945" cy="84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• Для каждой точки p ∈ Ctrue определяется расстояние до предсказанной кривой: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0384" y="473710"/>
            <a:ext cx="12676554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500" spc="3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МЕТРИКА ДЛЯ НЕЛИНЕЙНЫХ МОДЕЛЕЙ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0384" y="4492466"/>
            <a:ext cx="9618945" cy="84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• Далее интегральная ошибка, нормированная на длину истинной кривой, определяется как: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0384" y="8178319"/>
            <a:ext cx="9618945" cy="169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где ds — элемент дуговой длины, а числитель представляет суммарную (квадратичную) ошибку между точками истинной кривой и их ближайшими точками на предсказанной кривой.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83557" y="1698421"/>
            <a:ext cx="7962150" cy="21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Окончательной метрикой качества предсказания является симметричная ошибка, определяемая как среднее арифметическое двух вышеуказанных ошибок: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83557" y="6919431"/>
            <a:ext cx="7962150" cy="298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Таким образом, метрика учитывает как расхождения от истинной кривой к предсказанной, так и наоборот, нормируя интегральную квадратичную ошибку на полную длину кривой, что позволяет сравнивать результаты независимо от масштаба кривой.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928805" y="1365046"/>
            <a:ext cx="0" cy="8242697"/>
          </a:xfrm>
          <a:prstGeom prst="line">
            <a:avLst/>
          </a:prstGeom>
          <a:ln w="3810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blob:https://web.telegram.org/3e5fe6b0-73eb-4f6b-b749-ffd7a27adcf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0" descr="blob:https://web.telegram.org/3e5fe6b0-73eb-4f6b-b749-ffd7a27adcf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40415"/>
            <a:ext cx="17218025" cy="102716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23149" y="6375039"/>
            <a:ext cx="9903699" cy="3911961"/>
          </a:xfrm>
          <a:custGeom>
            <a:avLst/>
            <a:gdLst/>
            <a:ahLst/>
            <a:cxnLst/>
            <a:rect l="l" t="t" r="r" b="b"/>
            <a:pathLst>
              <a:path w="9903699" h="3911961">
                <a:moveTo>
                  <a:pt x="0" y="0"/>
                </a:moveTo>
                <a:lnTo>
                  <a:pt x="9903698" y="0"/>
                </a:lnTo>
                <a:lnTo>
                  <a:pt x="9903698" y="3911961"/>
                </a:lnTo>
                <a:lnTo>
                  <a:pt x="0" y="3911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20158" y="981075"/>
            <a:ext cx="10047683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5400" spc="577">
                <a:solidFill>
                  <a:srgbClr val="F27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АНАЛИЗ РЕЗУЛЬТАТОВ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321" y="2081651"/>
            <a:ext cx="17007357" cy="341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При низком уровне шума все методы (кроме arctan) показывают хорошие результаты, однако разница между ними становится явной при увеличении зашумлённости.</a:t>
            </a:r>
          </a:p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Методы, обладающие высокой устойчивостью к выбросам (например, ransac и huber), показывают относительно стабильное поведение даже при Noise &gt; 30%.</a:t>
            </a:r>
          </a:p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soft_l1 демонстрирует стабильность, оставаясь приемлемым выбором для широкого диапазона уровней шума.</a:t>
            </a:r>
          </a:p>
          <a:p>
            <a:pPr algn="l">
              <a:lnSpc>
                <a:spcPts val="3424"/>
              </a:lnSpc>
            </a:pPr>
            <a:r>
              <a:rPr lang="en-US" sz="2499" spc="119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Методы arctan и cauchy менее надёжны: у arctan наблюдаются резкие всплески ошибки, а cauchy иногда дает высокие значения метрики, особенно при сильном шуме.</a:t>
            </a:r>
          </a:p>
        </p:txBody>
      </p:sp>
      <p:sp>
        <p:nvSpPr>
          <p:cNvPr id="6" name="Freeform 6"/>
          <p:cNvSpPr/>
          <p:nvPr/>
        </p:nvSpPr>
        <p:spPr>
          <a:xfrm>
            <a:off x="4900470" y="6375039"/>
            <a:ext cx="9903699" cy="3911961"/>
          </a:xfrm>
          <a:custGeom>
            <a:avLst/>
            <a:gdLst/>
            <a:ahLst/>
            <a:cxnLst/>
            <a:rect l="l" t="t" r="r" b="b"/>
            <a:pathLst>
              <a:path w="9903699" h="3911961">
                <a:moveTo>
                  <a:pt x="0" y="0"/>
                </a:moveTo>
                <a:lnTo>
                  <a:pt x="9903698" y="0"/>
                </a:lnTo>
                <a:lnTo>
                  <a:pt x="9903698" y="3911961"/>
                </a:lnTo>
                <a:lnTo>
                  <a:pt x="0" y="3911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64355" y="6375039"/>
            <a:ext cx="9903699" cy="3911961"/>
          </a:xfrm>
          <a:custGeom>
            <a:avLst/>
            <a:gdLst/>
            <a:ahLst/>
            <a:cxnLst/>
            <a:rect l="l" t="t" r="r" b="b"/>
            <a:pathLst>
              <a:path w="9903699" h="3911961">
                <a:moveTo>
                  <a:pt x="0" y="0"/>
                </a:moveTo>
                <a:lnTo>
                  <a:pt x="9903699" y="0"/>
                </a:lnTo>
                <a:lnTo>
                  <a:pt x="9903699" y="3911961"/>
                </a:lnTo>
                <a:lnTo>
                  <a:pt x="0" y="3911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230868" cy="10287000"/>
          </a:xfrm>
          <a:custGeom>
            <a:avLst/>
            <a:gdLst/>
            <a:ahLst/>
            <a:cxnLst/>
            <a:rect l="l" t="t" r="r" b="b"/>
            <a:pathLst>
              <a:path w="13230868" h="10287000">
                <a:moveTo>
                  <a:pt x="0" y="0"/>
                </a:moveTo>
                <a:lnTo>
                  <a:pt x="13230868" y="0"/>
                </a:lnTo>
                <a:lnTo>
                  <a:pt x="132308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515505" y="3682862"/>
            <a:ext cx="9256990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515505" y="5871653"/>
            <a:ext cx="9256990" cy="0"/>
          </a:xfrm>
          <a:prstGeom prst="line">
            <a:avLst/>
          </a:prstGeom>
          <a:ln w="28575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695943" y="3682862"/>
            <a:ext cx="12896114" cy="194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20"/>
              </a:lnSpc>
            </a:pPr>
            <a:r>
              <a:rPr lang="en-US" sz="11300" spc="406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7897" y="6293163"/>
            <a:ext cx="785220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spc="50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 ATTENTION</a:t>
            </a:r>
          </a:p>
        </p:txBody>
      </p:sp>
      <p:pic>
        <p:nvPicPr>
          <p:cNvPr id="1026" name="Picture 2" descr="C:\Users\egort\Downloads\817812fa142e1859ddb84235001073b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7747" y="5871653"/>
            <a:ext cx="3756304" cy="43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676</Words>
  <Application>Microsoft Office PowerPoint</Application>
  <PresentationFormat>Произвольный</PresentationFormat>
  <Paragraphs>114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Garet Bold</vt:lpstr>
      <vt:lpstr>Inter</vt:lpstr>
      <vt:lpstr>Archivo Black</vt:lpstr>
      <vt:lpstr>Calibri</vt:lpstr>
      <vt:lpstr>Bebas Neue</vt:lpstr>
      <vt:lpstr>Inter Bold</vt:lpstr>
      <vt:lpstr>Garet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Gray Gradient Professional Presentation</dc:title>
  <dc:creator>tufya da</dc:creator>
  <cp:lastModifiedBy>tufya da</cp:lastModifiedBy>
  <cp:revision>4</cp:revision>
  <dcterms:created xsi:type="dcterms:W3CDTF">2006-08-16T00:00:00Z</dcterms:created>
  <dcterms:modified xsi:type="dcterms:W3CDTF">2025-04-13T16:04:05Z</dcterms:modified>
  <dc:identifier>DAGkdeXVQTE</dc:identifier>
</cp:coreProperties>
</file>